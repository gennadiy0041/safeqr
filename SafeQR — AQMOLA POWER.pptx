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0" y="0"/>
            <a:ext cx="5207000" cy="6858000"/>
          </a:xfrm>
          <a:prstGeom prst="rect">
            <a:avLst/>
          </a:prstGeom>
          <a:gradFill rotWithShape="1">
            <a:gsLst>
              <a:gs pos="0">
                <a:srgbClr val="F5A623">
                  <a:alpha val="22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15975" y="815975"/>
            <a:ext cx="5220414" cy="369570"/>
          </a:xfrm>
          <a:prstGeom prst="roundRect">
            <a:avLst>
              <a:gd name="adj" fmla="val 50000"/>
            </a:avLst>
          </a:prstGeom>
          <a:solidFill>
            <a:srgbClr val="F5A623">
              <a:alpha val="12000"/>
            </a:srgbClr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894080"/>
            <a:ext cx="50591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AQMOLA POWER · КОНКУРС ИННОВАЦИОННЫХ ПРОЕКТОВ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56790"/>
            <a:ext cx="10883392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60"/>
              </a:lnSpc>
              <a:buNone/>
            </a:pPr>
            <a:r>
              <a:rPr lang="en-US" sz="8800" b="1" spc="-100" kern="0" dirty="0">
                <a:solidFill>
                  <a:srgbClr val="F5F3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SafeQR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812800" y="3572510"/>
            <a:ext cx="771779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E3E8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Цифровая система контроля объектов безопасности предприятия: от QR-кода на огнетушителе — до панели руководителя в реальном времени.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6220460"/>
            <a:ext cx="38755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Номинация «Энергетика / ИТ» · Кокшетау ·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96659" y="6220460"/>
            <a:ext cx="13333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Автор: Геннадий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0"/>
            <a:ext cx="981075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Контроль безопасности на предприятиях до сих пор — это бумага и обход раз в квартал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240915"/>
            <a:ext cx="3380264" cy="359791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880" y="249682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FDECD8"/>
          </a:solidFill>
          <a:ln/>
        </p:spPr>
      </p:sp>
      <p:sp>
        <p:nvSpPr>
          <p:cNvPr id="6" name="Text 4"/>
          <p:cNvSpPr/>
          <p:nvPr/>
        </p:nvSpPr>
        <p:spPr>
          <a:xfrm>
            <a:off x="1135539" y="2557780"/>
            <a:ext cx="3298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880" y="3004820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единого реестра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1880" y="3350260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какой огнетушитель, аптечка, выход — знает только инженер по ОТ, и то по памяти или в Excel.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789" y="2240915"/>
            <a:ext cx="3380343" cy="359791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1694" y="249682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FDECD8"/>
          </a:solidFill>
          <a:ln/>
        </p:spPr>
      </p:sp>
      <p:sp>
        <p:nvSpPr>
          <p:cNvPr id="11" name="Text 9"/>
          <p:cNvSpPr/>
          <p:nvPr/>
        </p:nvSpPr>
        <p:spPr>
          <a:xfrm>
            <a:off x="4725353" y="2557780"/>
            <a:ext cx="3298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1694" y="3004820"/>
            <a:ext cx="2954589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 обнаруживается поздно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1694" y="359410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Рабочий видит неисправность — но сообщать о ней часто некому и незачем: нет простого канала.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5682" y="2240915"/>
            <a:ext cx="3380343" cy="359791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1587" y="249682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FDECD8"/>
          </a:solidFill>
          <a:ln/>
        </p:spPr>
      </p:sp>
      <p:sp>
        <p:nvSpPr>
          <p:cNvPr id="16" name="Text 14"/>
          <p:cNvSpPr/>
          <p:nvPr/>
        </p:nvSpPr>
        <p:spPr>
          <a:xfrm>
            <a:off x="8315246" y="2557780"/>
            <a:ext cx="3298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🕵️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1587" y="3004820"/>
            <a:ext cx="2954589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истории и контроля устранения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1587" y="3594100"/>
            <a:ext cx="2954589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«Обнаружено» не значит «устранено». Руководитель узнаёт о критической проблеме последним — или никогда.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1"/>
            <a:ext cx="981075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3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SafeQR переводит контроль безопасности из бумаги в цифру — за одно сканирование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240916"/>
            <a:ext cx="3380264" cy="3597910"/>
          </a:xfrm>
          <a:prstGeom prst="roundRect">
            <a:avLst>
              <a:gd name="adj" fmla="val 366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96820"/>
            <a:ext cx="29545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2799080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QR на объекте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1880" y="3147061"/>
            <a:ext cx="295450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Сканирование телефоном открывает карточку: статус, инструкция, ответственный — без установки приложения.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789" y="2240916"/>
            <a:ext cx="3380343" cy="3597910"/>
          </a:xfrm>
          <a:prstGeom prst="roundRect">
            <a:avLst>
              <a:gd name="adj" fmla="val 366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1694" y="2496820"/>
            <a:ext cx="2954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1694" y="279908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или репорт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1694" y="314706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Работник проходит чек-лист или в два касания сообщает о проблеме — с категорией и фото.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682" y="2240916"/>
            <a:ext cx="3380343" cy="3597910"/>
          </a:xfrm>
          <a:prstGeom prst="roundRect">
            <a:avLst>
              <a:gd name="adj" fmla="val 366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1587" y="2496820"/>
            <a:ext cx="2954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1587" y="279908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Мгновенно у руководителя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1587" y="314706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 сразу попадает на панель: приоритет, назначение, контроль устранения, история.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88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Один и тот же цикл — для любого объекта безопасности</a:t>
            </a:r>
            <a:endParaRPr lang="en-US" sz="30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92300" y="3746500"/>
            <a:ext cx="730250" cy="1270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38550" y="3746500"/>
            <a:ext cx="730250" cy="1270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84800" y="3746500"/>
            <a:ext cx="730250" cy="127000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31050" y="3746500"/>
            <a:ext cx="730250" cy="127000"/>
          </a:xfrm>
          <a:prstGeom prst="rect">
            <a:avLst/>
          </a:prstGeom>
        </p:spPr>
      </p:pic>
      <p:pic>
        <p:nvPicPr>
          <p:cNvPr id="8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77300" y="3746500"/>
            <a:ext cx="730250" cy="12700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819150" y="3308350"/>
            <a:ext cx="1130300" cy="1003300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1174988" y="3464561"/>
            <a:ext cx="469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📱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1254046" y="3942080"/>
            <a:ext cx="260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QR</a:t>
            </a:r>
            <a:endParaRPr lang="en-US" sz="1200" dirty="0"/>
          </a:p>
        </p:txBody>
      </p:sp>
      <p:sp>
        <p:nvSpPr>
          <p:cNvPr id="12" name="Shape 5"/>
          <p:cNvSpPr/>
          <p:nvPr/>
        </p:nvSpPr>
        <p:spPr>
          <a:xfrm>
            <a:off x="2565400" y="3308350"/>
            <a:ext cx="1130300" cy="1003300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2921238" y="3464561"/>
            <a:ext cx="469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👷</a:t>
            </a:r>
            <a:endParaRPr lang="en-US" sz="2400" dirty="0"/>
          </a:p>
        </p:txBody>
      </p:sp>
      <p:sp>
        <p:nvSpPr>
          <p:cNvPr id="14" name="Text 7"/>
          <p:cNvSpPr/>
          <p:nvPr/>
        </p:nvSpPr>
        <p:spPr>
          <a:xfrm>
            <a:off x="2755979" y="3942080"/>
            <a:ext cx="749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Работник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311650" y="3308350"/>
            <a:ext cx="1130300" cy="1003300"/>
          </a:xfrm>
          <a:prstGeom prst="roundRect">
            <a:avLst>
              <a:gd name="adj" fmla="val 10759"/>
            </a:avLst>
          </a:prstGeom>
          <a:solidFill>
            <a:srgbClr val="FDECD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667488" y="3464561"/>
            <a:ext cx="469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🟠</a:t>
            </a:r>
            <a:endParaRPr lang="en-US" sz="2400" dirty="0"/>
          </a:p>
        </p:txBody>
      </p:sp>
      <p:sp>
        <p:nvSpPr>
          <p:cNvPr id="17" name="Text 10"/>
          <p:cNvSpPr/>
          <p:nvPr/>
        </p:nvSpPr>
        <p:spPr>
          <a:xfrm>
            <a:off x="4481116" y="3942080"/>
            <a:ext cx="791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057900" y="3308350"/>
            <a:ext cx="1130300" cy="1003300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413738" y="3473450"/>
            <a:ext cx="469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🗄️</a:t>
            </a:r>
            <a:endParaRPr lang="en-US" sz="2400" dirty="0"/>
          </a:p>
        </p:txBody>
      </p:sp>
      <p:sp>
        <p:nvSpPr>
          <p:cNvPr id="20" name="Text 13"/>
          <p:cNvSpPr/>
          <p:nvPr/>
        </p:nvSpPr>
        <p:spPr>
          <a:xfrm>
            <a:off x="6160135" y="3950970"/>
            <a:ext cx="92575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7804150" y="3308350"/>
            <a:ext cx="1130300" cy="1003300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159988" y="3473450"/>
            <a:ext cx="469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👔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7864952" y="3950970"/>
            <a:ext cx="10086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Руководитель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550400" y="3308350"/>
            <a:ext cx="1130300" cy="1003300"/>
          </a:xfrm>
          <a:prstGeom prst="roundRect">
            <a:avLst>
              <a:gd name="adj" fmla="val 10759"/>
            </a:avLst>
          </a:prstGeom>
          <a:solidFill>
            <a:srgbClr val="E7F5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906238" y="3473450"/>
            <a:ext cx="4693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9696371" y="3950970"/>
            <a:ext cx="83835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Устранение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12800" y="5339080"/>
            <a:ext cx="9867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шаг фиксируется в истории объекта — руководитель видит не «обнаружено», а весь путь до «устранено».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12800" y="6238239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1"/>
            <a:ext cx="98107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Один движок — для всех объектов безопасности предприятия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87575"/>
            <a:ext cx="2520950" cy="1305560"/>
          </a:xfrm>
          <a:prstGeom prst="roundRect">
            <a:avLst>
              <a:gd name="adj" fmla="val 8512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32293" y="2444114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77169" y="3005457"/>
            <a:ext cx="11985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Огнетушитель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2187575"/>
            <a:ext cx="2520950" cy="1305560"/>
          </a:xfrm>
          <a:prstGeom prst="roundRect">
            <a:avLst>
              <a:gd name="adj" fmla="val 8512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992" y="2444114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🩹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01106" y="3005457"/>
            <a:ext cx="71000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Аптечка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2187575"/>
            <a:ext cx="2520950" cy="1305560"/>
          </a:xfrm>
          <a:prstGeom prst="roundRect">
            <a:avLst>
              <a:gd name="adj" fmla="val 8512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1693" y="2444114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🚪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88215" y="3005457"/>
            <a:ext cx="18951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Эвакуационный выход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2187575"/>
            <a:ext cx="2520950" cy="1305560"/>
          </a:xfrm>
          <a:prstGeom prst="roundRect">
            <a:avLst>
              <a:gd name="adj" fmla="val 8512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1393" y="2444114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596438" y="3005457"/>
            <a:ext cx="10381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Электрощит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651886"/>
            <a:ext cx="2520950" cy="1384300"/>
          </a:xfrm>
          <a:prstGeom prst="roundRect">
            <a:avLst>
              <a:gd name="adj" fmla="val 8028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2293" y="3947796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🛑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16071" y="4509136"/>
            <a:ext cx="21207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Аварийный выключатель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95675" y="3651886"/>
            <a:ext cx="2520950" cy="1384300"/>
          </a:xfrm>
          <a:prstGeom prst="roundRect">
            <a:avLst>
              <a:gd name="adj" fmla="val 8028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1992" y="3947796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🪧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968829" y="4509136"/>
            <a:ext cx="15745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Знак безопасности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5375" y="3651886"/>
            <a:ext cx="2520950" cy="1384300"/>
          </a:xfrm>
          <a:prstGeom prst="roundRect">
            <a:avLst>
              <a:gd name="adj" fmla="val 8028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1693" y="3947796"/>
            <a:ext cx="5391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🧰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30060" y="4509136"/>
            <a:ext cx="12115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Оборудование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51900" y="3648711"/>
            <a:ext cx="2527300" cy="1390650"/>
          </a:xfrm>
          <a:prstGeom prst="roundRect">
            <a:avLst>
              <a:gd name="adj" fmla="val 8219"/>
            </a:avLst>
          </a:prstGeom>
          <a:solidFill>
            <a:srgbClr val="14213D"/>
          </a:solidFill>
          <a:ln/>
        </p:spPr>
      </p:sp>
      <p:sp>
        <p:nvSpPr>
          <p:cNvPr id="26" name="Text 24"/>
          <p:cNvSpPr/>
          <p:nvPr/>
        </p:nvSpPr>
        <p:spPr>
          <a:xfrm>
            <a:off x="9899968" y="3903346"/>
            <a:ext cx="48196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23287" y="4358007"/>
            <a:ext cx="218452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Новые типы — без изменения кода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344161"/>
            <a:ext cx="91567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QR не хранит данные — только уникальную ссылку на объект. Один тип объекта в базе → карточка, инструкция и чек-лист генерируются автоматически.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39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8722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ГЛАВНОЕ ОТЛИЧИЕ ОТ ПРОСТОЙ QR-ИНСТРУКЦИИ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00582"/>
            <a:ext cx="1046480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5F3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Мы не просто фиксируем проблему — мы контролируем весь путь до её устранения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40297" y="3360421"/>
            <a:ext cx="608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98667" y="4030982"/>
            <a:ext cx="129206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Обнаружено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25800" y="3624582"/>
            <a:ext cx="3556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C69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58097" y="3360421"/>
            <a:ext cx="608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🟣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04653" y="4030982"/>
            <a:ext cx="111561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Назначено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3624582"/>
            <a:ext cx="3556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C69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75897" y="3360421"/>
            <a:ext cx="608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🟢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943090" y="4030982"/>
            <a:ext cx="10744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Устранено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61400" y="3624582"/>
            <a:ext cx="3556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C69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93697" y="3360421"/>
            <a:ext cx="608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🕘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677321" y="4030982"/>
            <a:ext cx="104155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истории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304" y="47218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Каждое изменение статуса, количества и назначения фиксируется — руководитель видит не догадки, а факты.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ПАНЕЛЬ РУКОВОДИТЕЛЯ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1"/>
            <a:ext cx="98107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То, что жюри увидит вживую на демонстрации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83386"/>
            <a:ext cx="10560050" cy="4155440"/>
          </a:xfrm>
          <a:prstGeom prst="roundRect">
            <a:avLst>
              <a:gd name="adj" fmla="val 359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  <a:effectLst>
            <a:outerShdw sx="100000" sy="100000" kx="0" ky="0" algn="bl" rotWithShape="0" blurRad="381000" dist="152400" dir="5400000">
              <a:srgbClr val="1421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2680" y="1990089"/>
            <a:ext cx="2372360" cy="1049020"/>
          </a:xfrm>
          <a:prstGeom prst="roundRect">
            <a:avLst>
              <a:gd name="adj" fmla="val 8475"/>
            </a:avLst>
          </a:prstGeom>
          <a:solidFill>
            <a:srgbClr val="F8F7F3"/>
          </a:solidFill>
          <a:ln/>
        </p:spPr>
      </p:sp>
      <p:sp>
        <p:nvSpPr>
          <p:cNvPr id="6" name="Text 4"/>
          <p:cNvSpPr/>
          <p:nvPr/>
        </p:nvSpPr>
        <p:spPr>
          <a:xfrm>
            <a:off x="1275080" y="2142489"/>
            <a:ext cx="21295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ОБЪЕКТОВ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75080" y="2388871"/>
            <a:ext cx="21295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47440" y="1990089"/>
            <a:ext cx="2372360" cy="1049020"/>
          </a:xfrm>
          <a:prstGeom prst="roundRect">
            <a:avLst>
              <a:gd name="adj" fmla="val 8475"/>
            </a:avLst>
          </a:prstGeom>
          <a:solidFill>
            <a:srgbClr val="F8F7F3"/>
          </a:solidFill>
          <a:ln/>
        </p:spPr>
      </p:sp>
      <p:sp>
        <p:nvSpPr>
          <p:cNvPr id="9" name="Text 7"/>
          <p:cNvSpPr/>
          <p:nvPr/>
        </p:nvSpPr>
        <p:spPr>
          <a:xfrm>
            <a:off x="3799840" y="2142489"/>
            <a:ext cx="21295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ОТКРЫТЫХ ПРОБЛЕМ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9840" y="2388871"/>
            <a:ext cx="21295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72200" y="1990089"/>
            <a:ext cx="2372360" cy="1049020"/>
          </a:xfrm>
          <a:prstGeom prst="roundRect">
            <a:avLst>
              <a:gd name="adj" fmla="val 8475"/>
            </a:avLst>
          </a:prstGeom>
          <a:solidFill>
            <a:srgbClr val="F8F7F3"/>
          </a:solidFill>
          <a:ln/>
        </p:spPr>
      </p:sp>
      <p:sp>
        <p:nvSpPr>
          <p:cNvPr id="12" name="Text 10"/>
          <p:cNvSpPr/>
          <p:nvPr/>
        </p:nvSpPr>
        <p:spPr>
          <a:xfrm>
            <a:off x="6324600" y="2142489"/>
            <a:ext cx="21295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КРИТИЧЕСКИХ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4600" y="2388871"/>
            <a:ext cx="21295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696960" y="1990089"/>
            <a:ext cx="2372360" cy="1049020"/>
          </a:xfrm>
          <a:prstGeom prst="roundRect">
            <a:avLst>
              <a:gd name="adj" fmla="val 8475"/>
            </a:avLst>
          </a:prstGeom>
          <a:solidFill>
            <a:srgbClr val="F8F7F3"/>
          </a:solidFill>
          <a:ln/>
        </p:spPr>
      </p:sp>
      <p:sp>
        <p:nvSpPr>
          <p:cNvPr id="15" name="Text 13"/>
          <p:cNvSpPr/>
          <p:nvPr/>
        </p:nvSpPr>
        <p:spPr>
          <a:xfrm>
            <a:off x="8849360" y="2142489"/>
            <a:ext cx="21295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УСТРАНЕНО СЕГОДНЯ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49360" y="2388871"/>
            <a:ext cx="21295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A3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22680" y="3242311"/>
            <a:ext cx="102450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🔴 Критические проблемы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25855" y="3547746"/>
            <a:ext cx="9940290" cy="684530"/>
          </a:xfrm>
          <a:prstGeom prst="roundRect">
            <a:avLst>
              <a:gd name="adj" fmla="val 10668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676650"/>
            <a:ext cx="364829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Огнетушитель №001 · Цех №1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907789"/>
            <a:ext cx="364829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Низкое давление · зарегистрировано 2 минуты назад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52936" y="3792221"/>
            <a:ext cx="8097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Открыть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25855" y="4327525"/>
            <a:ext cx="9940290" cy="684530"/>
          </a:xfrm>
          <a:prstGeom prst="roundRect">
            <a:avLst>
              <a:gd name="adj" fmla="val 10668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456432"/>
            <a:ext cx="29889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Эвакуационный выход №2 · Цех №2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687571"/>
            <a:ext cx="298892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Выход заблокирован оборудованием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52936" y="4572000"/>
            <a:ext cx="8097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Открыть 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39"/>
            <a:ext cx="47404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 · демо-данные пилотного стенда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ПРОСТО QR — А УМНЫЙ УЧЁТ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1"/>
            <a:ext cx="98107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Аптечка сама сообщает, когда пора пополнить запас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761614"/>
            <a:ext cx="5070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Работник списывает 2 стерильных бинта прямо на странице объекта. Как только остаток падает ниже минимума — SafeQR сам создаёт репорт «Требуется пополнение» и меняет статус объекта.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3980814"/>
            <a:ext cx="986076" cy="830580"/>
          </a:xfrm>
          <a:prstGeom prst="roundRect">
            <a:avLst>
              <a:gd name="adj" fmla="val 10703"/>
            </a:avLst>
          </a:prstGeom>
          <a:solidFill>
            <a:srgbClr val="F3F1E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4107817"/>
            <a:ext cx="68127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Было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90600" y="4328796"/>
            <a:ext cx="6812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шт.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00476" y="4218304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56076" y="3980814"/>
            <a:ext cx="986076" cy="830580"/>
          </a:xfrm>
          <a:prstGeom prst="roundRect">
            <a:avLst>
              <a:gd name="adj" fmla="val 10703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433876" y="4107817"/>
            <a:ext cx="68127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Стало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33876" y="4328796"/>
            <a:ext cx="6812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шт.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43295" y="2289175"/>
            <a:ext cx="5332730" cy="2994660"/>
          </a:xfrm>
          <a:prstGeom prst="roundRect">
            <a:avLst>
              <a:gd name="adj" fmla="val 4135"/>
            </a:avLst>
          </a:prstGeom>
          <a:solidFill>
            <a:srgbClr val="F8F7F3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8400" y="2494282"/>
            <a:ext cx="50701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Аптечка №003 · Склад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400" y="2809239"/>
          <a:ext cx="4922520" cy="1784350"/>
        </p:xfrm>
        <a:graphic>
          <a:graphicData uri="http://schemas.openxmlformats.org/drawingml/2006/table">
            <a:tbl>
              <a:tblPr/>
              <a:tblGrid>
                <a:gridCol w="2461260"/>
                <a:gridCol w="246126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8A86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Предмет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8A86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Кол-во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Бинт стерильный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/ мин. 5 🟠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Пластырь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Антисептик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Перчатки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48400" y="4705350"/>
            <a:ext cx="4922520" cy="373380"/>
          </a:xfrm>
          <a:prstGeom prst="roundRect">
            <a:avLst>
              <a:gd name="adj" fmla="val 17007"/>
            </a:avLst>
          </a:prstGeom>
          <a:solidFill>
            <a:srgbClr val="FDECD8"/>
          </a:solidFill>
          <a:ln/>
        </p:spPr>
      </p:sp>
      <p:sp>
        <p:nvSpPr>
          <p:cNvPr id="16" name="Text 13"/>
          <p:cNvSpPr/>
          <p:nvPr/>
        </p:nvSpPr>
        <p:spPr>
          <a:xfrm>
            <a:off x="6362700" y="4794250"/>
            <a:ext cx="483473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🟠 Требуется пополнение — руководитель уже уведомлён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42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4"/>
            <a:ext cx="98107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5F3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Проверенный стек — работающий прототип, а не слайд с обещаниями</a:t>
            </a:r>
            <a:endParaRPr lang="en-US" sz="32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4300" y="3873500"/>
            <a:ext cx="2222500" cy="1270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6800" y="3873500"/>
            <a:ext cx="2222500" cy="127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15975" y="3305175"/>
            <a:ext cx="1898650" cy="1263650"/>
          </a:xfrm>
          <a:prstGeom prst="roundRect">
            <a:avLst>
              <a:gd name="adj" fmla="val 979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414066" y="3558542"/>
            <a:ext cx="75318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Next.js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89457" y="3924300"/>
            <a:ext cx="195168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Приложение · TypeScript · Tailwind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16475" y="3305175"/>
            <a:ext cx="2660650" cy="1263650"/>
          </a:xfrm>
          <a:prstGeom prst="roundRect">
            <a:avLst>
              <a:gd name="adj" fmla="val 9799"/>
            </a:avLst>
          </a:prstGeom>
          <a:solidFill>
            <a:srgbClr val="F5A623">
              <a:alpha val="12000"/>
            </a:srgbClr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53008" y="3558542"/>
            <a:ext cx="103838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78527" y="3924300"/>
            <a:ext cx="273654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0D9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· Auth · Row Level Security · Storage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578975" y="3305175"/>
            <a:ext cx="1797050" cy="1263650"/>
          </a:xfrm>
          <a:prstGeom prst="roundRect">
            <a:avLst>
              <a:gd name="adj" fmla="val 979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163334" y="3656329"/>
            <a:ext cx="67913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Vercel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876472" y="4022092"/>
            <a:ext cx="120197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Хостинг и деплой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12800" y="4889500"/>
            <a:ext cx="348821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Готовая схема БД и RLS-политики — безопасность на уровне базы, не только приложения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02614" y="4889500"/>
            <a:ext cx="348829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QR не хранит данные — обновлять наклейки не нужно никогда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992507" y="4889500"/>
            <a:ext cx="348829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Разворачивается на новом предприятии за 15–20 минут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42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88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РЫНОК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4"/>
            <a:ext cx="98107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От пилота в Кокшетау — к предприятиям всего Казахстана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87575"/>
            <a:ext cx="3383677" cy="36512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43479"/>
            <a:ext cx="29580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Шаг 1 · Пилот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2758442"/>
            <a:ext cx="2958023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Промышленные и энергетические объекты Акмолинской области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880" y="3591564"/>
            <a:ext cx="2958023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Заводы, ТЭЦ и подстанции, элеваторы, склады — везде, где по закону обязателен учёт средств пожаротушения, аптечек и путей эвакуации.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9202" y="2187575"/>
            <a:ext cx="3383756" cy="36512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5107" y="2443479"/>
            <a:ext cx="29581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Шаг 2 · Регион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5107" y="2758442"/>
            <a:ext cx="2958105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Предприятия и учебные заведения по всему Казахстану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5107" y="3591564"/>
            <a:ext cx="29581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Требования по охране труда едины по стране — внедрение на новом объекте не требует новой разработки, только настройки.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9333" y="2184400"/>
            <a:ext cx="3379867" cy="3657600"/>
          </a:xfrm>
          <a:prstGeom prst="roundRect">
            <a:avLst>
              <a:gd name="adj" fmla="val 3758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53333" y="2438400"/>
            <a:ext cx="29580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Почему сейчас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3333" y="2753364"/>
            <a:ext cx="2958023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Цифровизация охраны труда становится нормой, а не исключением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3333" y="3586479"/>
            <a:ext cx="2958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Предприятия переходят на цифровой учёт постепенно — SafeQR даёт готовый и недорогой первый шаг вместо дорогой ERP-интеграции.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4"/>
            <a:ext cx="98107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Продукт «под ключ», а не просто QR-наклейки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60854"/>
            <a:ext cx="5180330" cy="3310890"/>
          </a:xfrm>
          <a:prstGeom prst="roundRect">
            <a:avLst>
              <a:gd name="adj" fmla="val 3740"/>
            </a:avLst>
          </a:prstGeom>
          <a:solidFill>
            <a:srgbClr val="F3F1EA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42164"/>
            <a:ext cx="475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Внедрение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418079"/>
            <a:ext cx="47562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100–300 тыс ₸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114042"/>
            <a:ext cx="47562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разовый платёж, ориентировочно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454400"/>
            <a:ext cx="4756252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Обследование объекта, цифровая карта, внесение объектов и генерация QR, печать и размещение наклеек, обучение ответственного.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2680" y="1757679"/>
            <a:ext cx="5176520" cy="3317240"/>
          </a:xfrm>
          <a:prstGeom prst="roundRect">
            <a:avLst>
              <a:gd name="adj" fmla="val 3828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482080" y="2037079"/>
            <a:ext cx="475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Подписка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2080" y="2413000"/>
            <a:ext cx="47562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20–100 тыс ₸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82080" y="3108964"/>
            <a:ext cx="47562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месяц, ориентировочно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82080" y="3449321"/>
            <a:ext cx="475625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Доступ к панели руководителя, хранение истории и фото, поддержка, новые типы объектов и обновления.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2800" y="5379721"/>
            <a:ext cx="981075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Цены — гипотеза для проверки на пилотном объекте, не финальный прайс. Метрика успеха пилота: среднее время от обнаружения до устранения проблемы.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ДОРОЖНАЯ КАРТА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64"/>
            <a:ext cx="98107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MVP уже работает. Дальше — пилот и масштабирование</a:t>
            </a:r>
            <a:endParaRPr lang="en-US" sz="32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900" y="3594100"/>
            <a:ext cx="10579100" cy="10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1850" y="3575050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38100">
            <a:solidFill>
              <a:srgbClr val="E7F5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3822700"/>
            <a:ext cx="5739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Сейчас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4124964"/>
            <a:ext cx="9900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MVP готов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4442464"/>
            <a:ext cx="222377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QR-карточки, репорты, чек-листы, панель руководителя, Supabase Auth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52850" y="3575050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38100">
            <a:solidFill>
              <a:srgbClr val="FDEC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33800" y="3822700"/>
            <a:ext cx="8987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9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1–2 месяца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33800" y="4124964"/>
            <a:ext cx="16794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Пилотный объект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33800" y="4442464"/>
            <a:ext cx="222377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20+ объектов на реальном предприятии, фото-отчёты, обратная связь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73850" y="3575050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38100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54800" y="3822700"/>
            <a:ext cx="9851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3–6 месяцев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54800" y="4124964"/>
            <a:ext cx="144510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и аналитика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54800" y="4442464"/>
            <a:ext cx="222377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Авто-категоризация репортов, приоритеты, отчёты за период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594850" y="3575050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38100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75800" y="3822700"/>
            <a:ext cx="10765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6–12 месяцев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75800" y="4124964"/>
            <a:ext cx="176250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Масштабирование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575800" y="4442464"/>
            <a:ext cx="1857502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Мультипредприятие, роли пользователей, новые регионы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12800" y="6238242"/>
            <a:ext cx="2267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SafeQR · AQMOLA POWER 2026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gradFill rotWithShape="1">
            <a:gsLst>
              <a:gs pos="0">
                <a:srgbClr val="F5A623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" t="80000" r="90000" b="2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5113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ПОЧЕМУ SAFEQR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724664"/>
            <a:ext cx="9810750" cy="1534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5F3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Работающий прототип, понятная бизнес-модель и реальная проблема энергетики и промышленности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3589021"/>
            <a:ext cx="3420507" cy="1049020"/>
          </a:xfrm>
          <a:prstGeom prst="roundRect">
            <a:avLst>
              <a:gd name="adj" fmla="val 96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3766821"/>
            <a:ext cx="315685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🧯 Работает уже сегодня — не концепция, а код, база данных и demo-сценарий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07" y="3589021"/>
            <a:ext cx="3420586" cy="1049020"/>
          </a:xfrm>
          <a:prstGeom prst="roundRect">
            <a:avLst>
              <a:gd name="adj" fmla="val 96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63507" y="3766821"/>
            <a:ext cx="315693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⚙️ Легко расширяется на любые объекты безопасности без переписывания системы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8693" y="3589021"/>
            <a:ext cx="3420507" cy="1049020"/>
          </a:xfrm>
          <a:prstGeom prst="roundRect">
            <a:avLst>
              <a:gd name="adj" fmla="val 96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136493" y="3766821"/>
            <a:ext cx="315685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📈 Понятный путь к деньгам: внедрение + подписка, начиная с одного пилота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993642"/>
            <a:ext cx="52975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Спасибо! Готов показать демо прямо сейчас.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961959" y="5115564"/>
            <a:ext cx="14680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Геннадий · SafeQR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SafeQR — AQMOLA POWER</dc:title>
  <dc:subject>PptxGenJS Presentation</dc:subject>
  <dc:creator>PptxGenJS</dc:creator>
  <cp:lastModifiedBy>PptxGenJS</cp:lastModifiedBy>
  <cp:revision>1</cp:revision>
  <dcterms:created xsi:type="dcterms:W3CDTF">2026-09-18T16:42:05Z</dcterms:created>
  <dcterms:modified xsi:type="dcterms:W3CDTF">2026-09-18T16:42:05Z</dcterms:modified>
</cp:coreProperties>
</file>